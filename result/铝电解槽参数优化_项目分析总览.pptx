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61" r:id="rId5"/>
    <p:sldId id="268" r:id="rId6"/>
    <p:sldId id="262" r:id="rId7"/>
    <p:sldId id="263" r:id="rId8"/>
    <p:sldId id="264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99BB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2860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5486400" cy="23774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核心目标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85800" y="1691639"/>
            <a:ext cx="5212080" cy="161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智能调整 ALF加料量 和 实际出铝量 两个可控参数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使电解槽工作平均电压尽可能逼近设定电压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提升电流效率、降低能耗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技术路线：条件电压预测 + PPO强化学习优化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核心问题：「给定过去7天工况 + 未来14天操作计划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                 → 未来14天电压会是多少？」</a:t>
            </a:r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64240" cy="22860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23359"/>
            <a:ext cx="10789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5090"/>
                </a:solidFill>
                <a:latin typeface="微软雅黑" panose="020B0503020204020204" charset="-122"/>
              </a:defRPr>
            </a:pPr>
            <a:r>
              <a:t>关键技术指标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43400"/>
            <a:ext cx="10789919" cy="94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预测模型：2层 LSTM (hidden=128) + 槽号16维嵌入，输入7天→预测14天，MAE/RMSE/MAPE/R² 多指标评估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PPO 训练：每轮收集256步经验，10轮内层迭代×mini_batch(64)，差异化裁剪 ALF(ε=0.1) / OUT(ε=0.2)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奖励函数：R = R_acc(10.0×指数精度) + P_smooth(-5.0×归一化违规) + P_bound(-10×边界软约束)，单步约[-30,+70]</a:t>
            </a:r>
            <a:endParaRPr sz="1200"/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• 数据划分：训练30槽/验证6槽/测试6槽，按槽号独立划分避免数据泄露；特征维度约84维（12基础+60统计+4衍生+8目标）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模块A：预测模型 — 网络架构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99BB"/>
                </a:solidFill>
                <a:latin typeface="Calibri" panose="020F0502020204030204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2860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ditional_predict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" y="1600200"/>
            <a:ext cx="1185926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模块</a:t>
            </a:r>
            <a:r>
              <a:rPr lang="en-US"/>
              <a:t>B</a:t>
            </a:r>
            <a:r>
              <a:t>：</a:t>
            </a:r>
            <a:r>
              <a:rPr>
                <a:sym typeface="+mn-ea"/>
              </a:rPr>
              <a:t>PPO — 算法实现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99BB"/>
                </a:solidFill>
                <a:latin typeface="Calibri" panose="020F0502020204030204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2860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矩形 5"/>
          <p:cNvSpPr/>
          <p:nvPr/>
        </p:nvSpPr>
        <p:spPr>
          <a:xfrm>
            <a:off x="1029970" y="2354580"/>
            <a:ext cx="2047875" cy="7086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S =</a:t>
            </a:r>
            <a:r>
              <a:rPr lang="zh-CN" altLang="en-US"/>
              <a:t>七天特征</a:t>
            </a:r>
            <a:r>
              <a:rPr lang="en-US" altLang="zh-CN"/>
              <a:t> + </a:t>
            </a:r>
            <a:r>
              <a:rPr lang="zh-CN" altLang="en-US"/>
              <a:t>未来</a:t>
            </a:r>
            <a:r>
              <a:rPr lang="en-US" altLang="zh-CN"/>
              <a:t>14</a:t>
            </a:r>
            <a:r>
              <a:rPr lang="zh-CN" altLang="en-US"/>
              <a:t>天的设定</a:t>
            </a:r>
            <a:r>
              <a:rPr lang="zh-CN" altLang="en-US"/>
              <a:t>电压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3077845" y="2686050"/>
            <a:ext cx="66484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742690" y="2162175"/>
            <a:ext cx="698500" cy="10591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/>
              <a:t>A</a:t>
            </a:r>
            <a:r>
              <a:rPr lang="en-US"/>
              <a:t>ctor</a:t>
            </a:r>
            <a:endParaRPr lang="en-US"/>
          </a:p>
          <a:p>
            <a:endParaRPr lang="en-US"/>
          </a:p>
          <a:p>
            <a:r>
              <a:rPr lang="en-US"/>
              <a:t>critic</a:t>
            </a:r>
            <a:endParaRPr lang="en-US"/>
          </a:p>
        </p:txBody>
      </p:sp>
      <p:cxnSp>
        <p:nvCxnSpPr>
          <p:cNvPr id="11" name="肘形连接符 10"/>
          <p:cNvCxnSpPr/>
          <p:nvPr/>
        </p:nvCxnSpPr>
        <p:spPr>
          <a:xfrm flipV="1">
            <a:off x="4458970" y="2162175"/>
            <a:ext cx="487680" cy="209550"/>
          </a:xfrm>
          <a:prstGeom prst="bentConnector3">
            <a:avLst>
              <a:gd name="adj1" fmla="val 5013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946650" y="1965960"/>
            <a:ext cx="1992630" cy="3352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ALF</a:t>
            </a:r>
            <a:r>
              <a:rPr lang="zh-CN" altLang="en-US"/>
              <a:t>加料</a:t>
            </a:r>
            <a:r>
              <a:rPr lang="zh-CN" altLang="en-US"/>
              <a:t>整调整</a:t>
            </a:r>
            <a:endParaRPr lang="zh-CN" altLang="en-US"/>
          </a:p>
        </p:txBody>
      </p:sp>
      <p:cxnSp>
        <p:nvCxnSpPr>
          <p:cNvPr id="15" name="肘形连接符 14"/>
          <p:cNvCxnSpPr/>
          <p:nvPr/>
        </p:nvCxnSpPr>
        <p:spPr>
          <a:xfrm>
            <a:off x="4458970" y="2356485"/>
            <a:ext cx="487680" cy="137160"/>
          </a:xfrm>
          <a:prstGeom prst="bentConnector3">
            <a:avLst>
              <a:gd name="adj1" fmla="val 5013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946650" y="2371725"/>
            <a:ext cx="2000885" cy="3352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zh-CN" altLang="en-US"/>
              <a:t>实际出铝量</a:t>
            </a:r>
            <a:r>
              <a:rPr lang="zh-CN" altLang="en-US"/>
              <a:t>调整</a:t>
            </a:r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441190" y="2969895"/>
            <a:ext cx="5054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045710" y="2777490"/>
            <a:ext cx="967740" cy="3848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r>
              <a:rPr lang="en-US" altLang="zh-CN"/>
              <a:t>V</a:t>
            </a:r>
            <a:r>
              <a:rPr lang="en-US" altLang="zh-CN"/>
              <a:t>alue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模块B：PPO — 配置与环境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99BB"/>
                </a:solidFill>
                <a:latin typeface="Calibri" panose="020F0502020204030204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2860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4754880" cy="23774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奖励函数（已修复）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39"/>
            <a:ext cx="4480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 = R_acc + P_smooth + P_bound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R_acc = 10.0 × Σ w_i × exp(-2.0 × (v_pred_i - v_set_i)²)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 w_i = [1.0, 0.9, ..., 0.1]  (14天时间衰减)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P_smooth = -5.0 × Σ violation_ratio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 (|Δalf|/15 或 |Δout|/700，归一化到[0,1])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P_bound = -10 × 超出比例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单步奖励 ≈ [-30, +70]（修复后合理范围）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40"/>
            <a:ext cx="6035040" cy="201168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5090"/>
                </a:solidFill>
                <a:latin typeface="微软雅黑" panose="020B0503020204020204" charset="-122"/>
              </a:defRPr>
            </a:pPr>
            <a:r>
              <a:t>MDP 状态空间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state_dim = 7 × input_dim + 14 + 1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过去7天完整特征窗口（展平）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未来14天目标设定电压序列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槽号索引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状态转移（滚动时域）：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28维轨迹 → 重塑(14,2) → 预测14天电压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仅执行day-1动作 → 滑动窗口1天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经验更新非控特征 → 重算统计特征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7040" y="1371600"/>
            <a:ext cx="4754880" cy="201168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4200" y="146304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经验更新规则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178308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工作平均电压：用预测值更新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ALF/出铝量：用 day-1 动作更新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铝水平：经验公式更新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-0.3×(Δout/prev_out)×aluminum_level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电压设定/实际设定：沿用前一天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• 统计特征：基于新窗口重新计算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 3/7天均值/标准差/差分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模块B：PPO — 算法实现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99BB"/>
                </a:solidFill>
                <a:latin typeface="Calibri" panose="020F0502020204030204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2860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o_algorith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" y="1102360"/>
            <a:ext cx="11612880" cy="44333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709160"/>
            <a:ext cx="5303520" cy="164592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5090"/>
                </a:solidFill>
                <a:latin typeface="微软雅黑" panose="020B0503020204020204" charset="-122"/>
              </a:defRPr>
            </a:pPr>
            <a:r>
              <a:t>Actor / Critic 网络结构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206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Actor: 状态 → LSTM+槽嵌入 → SharedNet → mean_head(28d)+std_head(28d)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28个独立高斯分布，tanh缩放输出到[-1,1]，std_head bias=-1.0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内置旧版兼容映射（4头→2头参数自动迁移）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Critic: 与Actor共享LSTM编码器结构 → 输出标量V(s)∈[-50,50]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从[-1000,1000]收紧，防止值函数漂移导致GAE崩塌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709160"/>
            <a:ext cx="5303520" cy="164592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800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差异化裁剪（核心算法改进）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1206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独立裁剪 + 求和（而非全局裁剪）：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ALF(偶数索引): ratio × A vs clip(ratio, 0.9, 1.1) × A → min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OUT(奇数索引): ratio × A vs clip(ratio, 0.8, 1.2) × A → min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actor_loss = -(alf_surr + out_surr)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PPO更新流程：rewards标准化 → GAE优势 → 10轮mini-batch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独立裁剪ALF/OUT → MSE计算critic_loss → 梯度裁剪1.0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更新后自动清空经验缓冲区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0" y="182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99BB"/>
                </a:solidFill>
                <a:latin typeface="Calibri" panose="020F0502020204030204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22860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51460"/>
            <a:ext cx="11795760" cy="4503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8463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5090"/>
                </a:solidFill>
                <a:latin typeface="微软雅黑" panose="020B0503020204020204" charset="-122"/>
              </a:defRPr>
            </a:pPr>
            <a:r>
              <a:t>模型间依赖关系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650" y="516636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LSTMModelWithPotEmbedding (基础时序编码器)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├→ ConditionalVoltagePredictor (条件预测=基础编码器+条件编码器)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│    └→ VoltageControlEnv (仿真环境，封装预测器为MDP)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│         └→ MPDPPO (含Actor/Critic，在仿真环境中训练)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└── Actor/Critic 内部也有独立LSTM编码器（结构对称，参数独立）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846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推理部署流程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173345"/>
            <a:ext cx="5029200" cy="134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1. 实时工况(过去7天) + 设定电压(未来14天)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2. Actor(PPO策略) → 28维动作轨迹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3. Day-1动作 → 现场执行/人工审核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4. 条件预测器验证 → 预期未来14天电压曲线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关键设计：训练-部署一致性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Actor输出完整14天轨迹 → 预测器输入在训练</a:t>
            </a:r>
          </a:p>
          <a:p>
            <a:pPr>
              <a:spcAft>
                <a:spcPts val="300"/>
              </a:spcAft>
              <a:defRPr sz="95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和推理时保持一致 → 消除分布偏移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2,&quot;left&quot;:43.2,&quot;top&quot;:100.8,&quot;width&quot;:871.2}"/>
</p:tagLst>
</file>

<file path=ppt/tags/tag2.xml><?xml version="1.0" encoding="utf-8"?>
<p:tagLst xmlns:p="http://schemas.openxmlformats.org/presentationml/2006/main">
  <p:tag name="KSO_WM_DIAGRAM_VIRTUALLY_FRAME" val="{&quot;height&quot;:187.2,&quot;left&quot;:43.2,&quot;top&quot;:100.8,&quot;width&quot;:871.2}"/>
</p:tagLst>
</file>

<file path=ppt/tags/tag3.xml><?xml version="1.0" encoding="utf-8"?>
<p:tagLst xmlns:p="http://schemas.openxmlformats.org/presentationml/2006/main">
  <p:tag name="KSO_WM_DIAGRAM_VIRTUALLY_FRAME" val="{&quot;height&quot;:187.2,&quot;left&quot;:43.2,&quot;top&quot;:100.8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2019</Words>
  <Application>WPS 演示</Application>
  <PresentationFormat>On-screen Show (4:3)</PresentationFormat>
  <Paragraphs>123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ccc</cp:lastModifiedBy>
  <cp:revision>4</cp:revision>
  <dcterms:created xsi:type="dcterms:W3CDTF">2013-01-27T09:14:00Z</dcterms:created>
  <dcterms:modified xsi:type="dcterms:W3CDTF">2026-05-16T07:29:00Z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88B5F0971ADD41578BD018647EBD7D60_12</vt:lpwstr>
  </property>
</Properties>
</file>